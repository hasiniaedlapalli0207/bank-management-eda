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problem: a bank phoned customers to sell term deposits and only 11.7% said yes. The goal is to find patterns that help target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facts and the four cleaning decisions that matter most. Duplicates: none found.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 follows a U-shape, and the job chart tells the same story: students are young, retirees are old. The extreme groups are small, so treat them as promising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Returns diminish after about three contacts. This is an association: hard-to-convert customers may simply be called more often. The unknown contact group is 28.8% of customers, so read its low rate carefully.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marked with a tilde are read from the monthly chart; March (52.0%) is the printed value. Replace with exact numbers from the notebook printout.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is lower than an always-no model (about 88%), but that model finds zero subscribers. Class weights were balanced, so precision is traded for recall. The model's top features agree with the EDA: previous success, unknown contact, number of contacts, retired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five actions and be upfront about what the analysis cannot 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74" y="812774"/>
            <a:ext cx="10566425" cy="50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74" y="1620512"/>
            <a:ext cx="10566426" cy="4424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74" y="812774"/>
            <a:ext cx="10566425" cy="50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74" y="1620512"/>
            <a:ext cx="10566426" cy="4424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4" y="1768003"/>
            <a:ext cx="10883418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A3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 PROJECT · PYTHON, PANDAS, SEABORN, SCIKIT-LEARN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4" y="2306374"/>
            <a:ext cx="10883418" cy="151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 Marketing Campaign Analysis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774" y="4053726"/>
            <a:ext cx="10883418" cy="355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C9D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customers say yes to a term deposit, and how can calls be better targeted?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774" y="4637819"/>
            <a:ext cx="10883418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FA0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[Your name] · Bleep EDA Assignment · UCI Bank Marketing dataset, 45,211 customers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74" y="812774"/>
            <a:ext cx="10883418" cy="528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and cleaning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49" y="1572857"/>
            <a:ext cx="3380317" cy="1445514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381" y="1777495"/>
            <a:ext cx="2955538" cy="51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1280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45,211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1381" y="2315938"/>
            <a:ext cx="2955538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(one row each)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792" y="1572857"/>
            <a:ext cx="3380390" cy="1445514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223" y="1777495"/>
            <a:ext cx="2955612" cy="51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1280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661223" y="2315938"/>
            <a:ext cx="2955612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plus the yes/no target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707" y="1572857"/>
            <a:ext cx="3380317" cy="1445514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138" y="1777495"/>
            <a:ext cx="2955538" cy="51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C262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11.7%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251138" y="2315938"/>
            <a:ext cx="2955538" cy="523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subscribed, so classes are imbalanced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774" y="3275515"/>
            <a:ext cx="10883418" cy="33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cleaning decisions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2774" y="3834247"/>
            <a:ext cx="366261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"unknown" values (poutcome 81.7%)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1881" y="3834247"/>
            <a:ext cx="6540454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Kept as their own category instead of dropping rows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774" y="4210093"/>
            <a:ext cx="366261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pdays = -1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1881" y="4210093"/>
            <a:ext cx="6540454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Replaced by a previously_contacted flag (-1 is a code, not days)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74" y="4585938"/>
            <a:ext cx="366261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outliers (10.5%)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1881" y="4585938"/>
            <a:ext cx="6540454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Kept as real customers; compared with medians and a log scale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774" y="4961784"/>
            <a:ext cx="366261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1881" y="4961784"/>
            <a:ext cx="6540454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Excluded from the model because it is only known after the call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774" y="6238296"/>
            <a:ext cx="33183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 Marketing Campaign Analysis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74" y="812774"/>
            <a:ext cx="10883418" cy="528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and job shape who subscribes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5949" y="1721253"/>
            <a:ext cx="4438583" cy="1101188"/>
          </a:xfrm>
          <a:prstGeom prst="roundRect">
            <a:avLst>
              <a:gd name="adj" fmla="val 8938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  <p:txBody>
          <a:bodyPr wrap="square" lIns="175810" tIns="150435" rIns="54931" bIns="124919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U-shape by age:</a:t>
            </a:r>
            <a:r>
              <a:rPr lang="en-US" sz="150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under-25 (25.6%) and 65+ (42.1%) subscribe far above the 11.7% average.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5949" y="2981173"/>
            <a:ext cx="4438583" cy="853595"/>
          </a:xfrm>
          <a:prstGeom prst="roundRect">
            <a:avLst>
              <a:gd name="adj" fmla="val 11531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  <p:txBody>
          <a:bodyPr wrap="square" lIns="175810" tIns="150435" rIns="54931" bIns="124919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Job:</a:t>
            </a:r>
            <a:r>
              <a:rPr lang="en-US" sz="150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students (28.7%) and retirees (22.8%) lead; blue-collar is lowest at about 7%.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5949" y="3993499"/>
            <a:ext cx="4438583" cy="853595"/>
          </a:xfrm>
          <a:prstGeom prst="roundRect">
            <a:avLst>
              <a:gd name="adj" fmla="val 11531"/>
            </a:avLst>
          </a:prstGeom>
          <a:solidFill>
            <a:srgbClr val="FFF4E8"/>
          </a:solidFill>
          <a:ln w="6350">
            <a:solidFill>
              <a:srgbClr val="F0CFA8"/>
            </a:solidFill>
            <a:prstDash val="solid"/>
          </a:ln>
        </p:spPr>
        <p:txBody>
          <a:bodyPr wrap="square" lIns="175810" tIns="150435" rIns="54931" bIns="124919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Caution:</a:t>
            </a:r>
            <a:r>
              <a:rPr lang="en-US" sz="150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under-25 and 65+ groups have only about 810 customers each.</a:t>
            </a:r>
            <a:endParaRPr lang="en-US" sz="1500" dirty="0"/>
          </a:p>
        </p:txBody>
      </p:sp>
      <p:pic>
        <p:nvPicPr>
          <p:cNvPr id="6" name="Image 0" descr="Bar chart of subscription rate by age group: under 25 is 25.6 percent, 25 to 34 is 12.5, 35 to 44 is 9.7, 45 to 54 is 9.3, 55 to 64 is 13.1, 65 plus is 42.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62470" y="1569682"/>
            <a:ext cx="5333934" cy="34289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74" y="6238297"/>
            <a:ext cx="33197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 Marketing Campaign Analysis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74" y="812774"/>
            <a:ext cx="10883418" cy="528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 success and call frequency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49" y="1845666"/>
            <a:ext cx="4438583" cy="1359142"/>
          </a:xfrm>
          <a:prstGeom prst="roundRect">
            <a:avLst>
              <a:gd name="adj" fmla="val 7242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0587" y="2024870"/>
            <a:ext cx="4150186" cy="51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C262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64.7%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20587" y="2563313"/>
            <a:ext cx="4150186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3A46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previous-campaign successes subscribed again, about 5.5x the average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5949" y="3363539"/>
            <a:ext cx="4438583" cy="1359142"/>
          </a:xfrm>
          <a:prstGeom prst="roundRect">
            <a:avLst>
              <a:gd name="adj" fmla="val 7242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0587" y="3542743"/>
            <a:ext cx="4150186" cy="51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1280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14.9%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20587" y="4081187"/>
            <a:ext cx="4150186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3A46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cellular contacts subscribed, vs 13.4% telephone and only 4.1% unknown</a:t>
            </a:r>
            <a:endParaRPr lang="en-US" sz="1400" dirty="0"/>
          </a:p>
        </p:txBody>
      </p:sp>
      <p:pic>
        <p:nvPicPr>
          <p:cNvPr id="9" name="Image 0" descr="Bar chart of subscription rate by number of contacts: 1 contact 14.6 percent, 2 contacts 11.2, 3 contacts 11.2, 4 to 5 contacts 8.6, 6 to 10 contacts 6.5, 11 plus contacts 3.9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62470" y="1569681"/>
            <a:ext cx="5333934" cy="342898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2774" y="6238295"/>
            <a:ext cx="33249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 Marketing Campaign Analysis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74" y="812775"/>
            <a:ext cx="10883418" cy="528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Seasonality: effort and results do not match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49" y="1623650"/>
            <a:ext cx="3380317" cy="2171916"/>
          </a:xfrm>
          <a:prstGeom prst="roundRect">
            <a:avLst>
              <a:gd name="adj" fmla="val 4532"/>
            </a:avLst>
          </a:prstGeom>
          <a:solidFill>
            <a:srgbClr val="17283F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381" y="1879082"/>
            <a:ext cx="2955538" cy="57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0A3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~7%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71381" y="2503897"/>
            <a:ext cx="2955538" cy="29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1381" y="2846701"/>
            <a:ext cx="2955538" cy="71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C9D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13,700 calls (roughly 30% of all calls) but one of the lowest rates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792" y="1623650"/>
            <a:ext cx="3380390" cy="2171916"/>
          </a:xfrm>
          <a:prstGeom prst="roundRect">
            <a:avLst>
              <a:gd name="adj" fmla="val 4532"/>
            </a:avLst>
          </a:prstGeom>
          <a:solidFill>
            <a:srgbClr val="17283F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1223" y="1879082"/>
            <a:ext cx="2955612" cy="57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5FD0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52.0%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61223" y="2503897"/>
            <a:ext cx="2955612" cy="29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1223" y="2846701"/>
            <a:ext cx="2955612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C9D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about 400 calls, but the highest rate of the year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5707" y="1623650"/>
            <a:ext cx="3380317" cy="2171916"/>
          </a:xfrm>
          <a:prstGeom prst="roundRect">
            <a:avLst>
              <a:gd name="adj" fmla="val 4532"/>
            </a:avLst>
          </a:prstGeom>
          <a:solidFill>
            <a:srgbClr val="17283F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1138" y="1879082"/>
            <a:ext cx="2955538" cy="57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5FD0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~44-47%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251138" y="2503897"/>
            <a:ext cx="2955538" cy="29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Sep, Oct, Dec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51138" y="2846701"/>
            <a:ext cx="2955538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C9D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 calls each (a few hundred), very high rates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774" y="4103505"/>
            <a:ext cx="10883418" cy="539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C9D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High-rate months have small samples and may reflect who was called, not the month itself. The data has no year column, so this is a seasonal pattern, not a true time series.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774" y="6238295"/>
            <a:ext cx="33152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 Marketing Campaign Analysis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74" y="812775"/>
            <a:ext cx="10883418" cy="528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model: Logistic Regression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774" y="1569684"/>
            <a:ext cx="4578281" cy="299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set results (class "yes")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5949" y="1948777"/>
            <a:ext cx="4438583" cy="523471"/>
          </a:xfrm>
          <a:prstGeom prst="roundRect">
            <a:avLst>
              <a:gd name="adj" fmla="val 13950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587" y="2077188"/>
            <a:ext cx="2485350" cy="29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585930" y="2077188"/>
            <a:ext cx="639263" cy="29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0.756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5949" y="2580184"/>
            <a:ext cx="4438583" cy="523471"/>
          </a:xfrm>
          <a:prstGeom prst="roundRect">
            <a:avLst>
              <a:gd name="adj" fmla="val 13950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0587" y="2708594"/>
            <a:ext cx="2485350" cy="29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85930" y="2708594"/>
            <a:ext cx="500751" cy="29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0.27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5949" y="3211593"/>
            <a:ext cx="4438583" cy="523471"/>
          </a:xfrm>
          <a:prstGeom prst="roundRect">
            <a:avLst>
              <a:gd name="adj" fmla="val 13950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0587" y="3340004"/>
            <a:ext cx="2485350" cy="29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85930" y="3340004"/>
            <a:ext cx="509620" cy="29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5949" y="3843003"/>
            <a:ext cx="4438583" cy="523471"/>
          </a:xfrm>
          <a:prstGeom prst="roundRect">
            <a:avLst>
              <a:gd name="adj" fmla="val 13950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0587" y="3971413"/>
            <a:ext cx="2485350" cy="29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F1-score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85930" y="3971413"/>
            <a:ext cx="499012" cy="29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0.37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64058" y="1569684"/>
            <a:ext cx="4970775" cy="299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matrix (9,043 customers)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664058" y="1945602"/>
            <a:ext cx="2412961" cy="1064135"/>
          </a:xfrm>
          <a:prstGeom prst="roundRect">
            <a:avLst>
              <a:gd name="adj" fmla="val 7161"/>
            </a:avLst>
          </a:prstGeom>
          <a:solidFill>
            <a:srgbClr val="DFEEF0"/>
          </a:solidFill>
          <a:ln/>
        </p:spPr>
      </p:sp>
      <p:sp>
        <p:nvSpPr>
          <p:cNvPr id="18" name="Text 16"/>
          <p:cNvSpPr/>
          <p:nvPr/>
        </p:nvSpPr>
        <p:spPr>
          <a:xfrm>
            <a:off x="5841800" y="2123343"/>
            <a:ext cx="2119201" cy="45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280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6,175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841800" y="2600849"/>
            <a:ext cx="2119201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"no"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78607" y="1945602"/>
            <a:ext cx="2412961" cy="1064135"/>
          </a:xfrm>
          <a:prstGeom prst="roundRect">
            <a:avLst>
              <a:gd name="adj" fmla="val 7161"/>
            </a:avLst>
          </a:prstGeom>
          <a:solidFill>
            <a:srgbClr val="FFF4E8"/>
          </a:solidFill>
          <a:ln/>
        </p:spPr>
      </p:sp>
      <p:sp>
        <p:nvSpPr>
          <p:cNvPr id="21" name="Text 19"/>
          <p:cNvSpPr/>
          <p:nvPr/>
        </p:nvSpPr>
        <p:spPr>
          <a:xfrm>
            <a:off x="8356349" y="2123343"/>
            <a:ext cx="2119201" cy="45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C262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1,810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356349" y="2600849"/>
            <a:ext cx="2119201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Wasted calls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4058" y="3111323"/>
            <a:ext cx="2412961" cy="1064135"/>
          </a:xfrm>
          <a:prstGeom prst="roundRect">
            <a:avLst>
              <a:gd name="adj" fmla="val 7161"/>
            </a:avLst>
          </a:prstGeom>
          <a:solidFill>
            <a:srgbClr val="FFF4E8"/>
          </a:solidFill>
          <a:ln/>
        </p:spPr>
      </p:sp>
      <p:sp>
        <p:nvSpPr>
          <p:cNvPr id="24" name="Text 22"/>
          <p:cNvSpPr/>
          <p:nvPr/>
        </p:nvSpPr>
        <p:spPr>
          <a:xfrm>
            <a:off x="5841800" y="3289064"/>
            <a:ext cx="2119201" cy="45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C262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399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841800" y="3766570"/>
            <a:ext cx="2119201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Missed subscribers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78607" y="3111323"/>
            <a:ext cx="2412961" cy="1064135"/>
          </a:xfrm>
          <a:prstGeom prst="roundRect">
            <a:avLst>
              <a:gd name="adj" fmla="val 7161"/>
            </a:avLst>
          </a:prstGeom>
          <a:solidFill>
            <a:srgbClr val="DFEEF0"/>
          </a:solidFill>
          <a:ln/>
        </p:spPr>
      </p:sp>
      <p:sp>
        <p:nvSpPr>
          <p:cNvPr id="27" name="Text 25"/>
          <p:cNvSpPr/>
          <p:nvPr/>
        </p:nvSpPr>
        <p:spPr>
          <a:xfrm>
            <a:off x="8356349" y="3289064"/>
            <a:ext cx="2119201" cy="45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280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659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356349" y="3766570"/>
            <a:ext cx="2119201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 found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774" y="4623619"/>
            <a:ext cx="11379226" cy="26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A46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Flagged customers subscribe at about 27%, roughly 2.3x the 11.7% baseline. duration was excluded to avoid data leakage.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2774" y="6238298"/>
            <a:ext cx="33202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 Marketing Campaign Analysis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74" y="812772"/>
            <a:ext cx="10883418" cy="528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and limitations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49" y="1572856"/>
            <a:ext cx="5149841" cy="2837236"/>
          </a:xfrm>
          <a:prstGeom prst="roundRect">
            <a:avLst>
              <a:gd name="adj" fmla="val 3469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381" y="1828288"/>
            <a:ext cx="4778148" cy="33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80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1381" y="2259998"/>
            <a:ext cx="477814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Re-contact previous successes first (64.7%).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1381" y="2618091"/>
            <a:ext cx="4778148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Prioritise students, retirees and tertiary-educated customers.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1381" y="3207330"/>
            <a:ext cx="477814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Cap follow-up calls at about 3 per customer.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1381" y="3565423"/>
            <a:ext cx="4891235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Prefer cellular and record contact method properly.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1381" y="3923516"/>
            <a:ext cx="477814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Test moving call volume away from May.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26110" y="1572856"/>
            <a:ext cx="5149914" cy="2837236"/>
          </a:xfrm>
          <a:prstGeom prst="roundRect">
            <a:avLst>
              <a:gd name="adj" fmla="val 3469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1542" y="1828288"/>
            <a:ext cx="4778222" cy="33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C262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81542" y="2259998"/>
            <a:ext cx="4778222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bank, 2008-2010 data.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81542" y="2618091"/>
            <a:ext cx="4778222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Association, not causation.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81542" y="2976184"/>
            <a:ext cx="4778222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segments and months have small samples.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81542" y="3334277"/>
            <a:ext cx="4778222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year column, so months are a seasonal pattern.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81542" y="3692370"/>
            <a:ext cx="4778222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 is linear and misses the age U-shape.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74" y="6238295"/>
            <a:ext cx="33103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 Marketing Campaign Analysis ·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nk Marketing Campaign Analysis">
  <a:themeElements>
    <a:clrScheme name="Bank Marketing Campaign Analysis">
      <a:dk1>
        <a:srgbClr val="1A2433"/>
      </a:dk1>
      <a:lt1>
        <a:srgbClr val="F6F4EF"/>
      </a:lt1>
      <a:dk2>
        <a:srgbClr val="515862"/>
      </a:dk2>
      <a:lt2>
        <a:srgbClr val="E0DFDC"/>
      </a:lt2>
      <a:accent1>
        <a:srgbClr val="12808D"/>
      </a:accent1>
      <a:accent2>
        <a:srgbClr val="C2620A"/>
      </a:accent2>
      <a:accent3>
        <a:srgbClr val="F0A35A"/>
      </a:accent3>
      <a:accent4>
        <a:srgbClr val="5FD0DC"/>
      </a:accent4>
      <a:accent5>
        <a:srgbClr val="3A4657"/>
      </a:accent5>
      <a:accent6>
        <a:srgbClr val="C9D3E0"/>
      </a:accent6>
      <a:hlink>
        <a:srgbClr val="0563C1"/>
      </a:hlink>
      <a:folHlink>
        <a:srgbClr val="954F72"/>
      </a:folHlink>
    </a:clrScheme>
    <a:fontScheme name="Bank Marketing Campaign Analysis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Marketing Campaign Analysis</dc:title>
  <dc:subject/>
  <dc:creator/>
  <cp:lastModifiedBy/>
  <cp:revision>1</cp:revision>
  <dcterms:created xsi:type="dcterms:W3CDTF">2026-10-11T19:20:57Z</dcterms:created>
  <dcterms:modified xsi:type="dcterms:W3CDTF">2026-10-11T19:20:57Z</dcterms:modified>
</cp:coreProperties>
</file>